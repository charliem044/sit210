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8" d="100"/>
          <a:sy n="158" d="100"/>
        </p:scale>
        <p:origin x="1884" y="10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7036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Water Damage Detection Robot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Early Prevention Through Smart Monitoring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The Problem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88E3C"/>
                </a:solidFill>
              </a:rPr>
              <a:t>$3 BILLION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</a:rPr>
              <a:t>Annual insurance claims for water damage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37760" y="1097280"/>
            <a:ext cx="3931920" cy="3204866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pPr marL="285750" indent="-285750">
              <a:buFont typeface="Calibri" panose="020F0502020204030204" pitchFamily="34" charset="0"/>
              <a:buChar char="X"/>
            </a:pPr>
            <a:r>
              <a:rPr lang="en-AU" dirty="0"/>
              <a:t>Current : Reactive Approach</a:t>
            </a:r>
          </a:p>
          <a:p>
            <a:endParaRPr lang="en-AU" dirty="0"/>
          </a:p>
          <a:p>
            <a:pPr marL="285750" indent="-285750">
              <a:buFont typeface="Calibri" panose="020F0502020204030204" pitchFamily="34" charset="0"/>
              <a:buChar char="X"/>
            </a:pPr>
            <a:r>
              <a:rPr lang="en-AU" dirty="0"/>
              <a:t>Fix AFTER damage occurs </a:t>
            </a:r>
          </a:p>
          <a:p>
            <a:endParaRPr lang="en-AU" dirty="0"/>
          </a:p>
          <a:p>
            <a:pPr marL="285750" indent="-285750">
              <a:buFont typeface="Calibri" panose="020F0502020204030204" pitchFamily="34" charset="0"/>
              <a:buChar char="X"/>
            </a:pPr>
            <a:r>
              <a:rPr lang="en-AU" dirty="0"/>
              <a:t>Repair costs:$15,000 - $30,000+</a:t>
            </a:r>
          </a:p>
          <a:p>
            <a:endParaRPr lang="en-AU" dirty="0"/>
          </a:p>
          <a:p>
            <a:pPr marL="285750" indent="-285750">
              <a:buFont typeface="Calibri" panose="020F0502020204030204" pitchFamily="34" charset="0"/>
              <a:buChar char="X"/>
            </a:pPr>
            <a:r>
              <a:rPr lang="en-AU" dirty="0"/>
              <a:t>Insurance complications</a:t>
            </a:r>
          </a:p>
          <a:p>
            <a:endParaRPr lang="en-AU" dirty="0"/>
          </a:p>
          <a:p>
            <a:pPr marL="285750" indent="-285750">
              <a:buFont typeface="Calibri" panose="020F0502020204030204" pitchFamily="34" charset="0"/>
              <a:buChar char="X"/>
            </a:pPr>
            <a:r>
              <a:rPr lang="en-AU" dirty="0"/>
              <a:t>Property damage </a:t>
            </a:r>
          </a:p>
          <a:p>
            <a:endParaRPr lang="en-AU" dirty="0"/>
          </a:p>
          <a:p>
            <a:pPr marL="285750" indent="-285750">
              <a:buFont typeface="Calibri" panose="020F0502020204030204" pitchFamily="34" charset="0"/>
              <a:buChar char="X"/>
            </a:pPr>
            <a:r>
              <a:rPr lang="en-AU" dirty="0"/>
              <a:t>Mold and health hazards </a:t>
            </a:r>
          </a:p>
          <a:p>
            <a:pPr marL="285750" indent="-285750">
              <a:buFont typeface="Calibri" panose="020F0502020204030204" pitchFamily="34" charset="0"/>
              <a:buChar char="X"/>
            </a:pPr>
            <a:endParaRPr lang="en-A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Water Damage Timeline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solidFill>
            <a:srgbClr val="E8F5E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JAN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Small leak starts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$0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1" y="1828800"/>
            <a:ext cx="274319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2834640" y="1371600"/>
            <a:ext cx="1828800" cy="914400"/>
          </a:xfrm>
          <a:prstGeom prst="rect">
            <a:avLst/>
          </a:prstGeom>
          <a:solidFill>
            <a:srgbClr val="FFF9C4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2926080" y="14630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FEB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Mold growing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$0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828800"/>
            <a:ext cx="274320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4937760" y="1371600"/>
            <a:ext cx="1828800" cy="914400"/>
          </a:xfrm>
          <a:prstGeom prst="rect">
            <a:avLst/>
          </a:prstGeom>
          <a:solidFill>
            <a:srgbClr val="FFE0B2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5029200" y="14630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MAR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Visible damage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$500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1828800"/>
            <a:ext cx="274320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7040880" y="1371600"/>
            <a:ext cx="1828800" cy="914400"/>
          </a:xfrm>
          <a:prstGeom prst="rect">
            <a:avLst/>
          </a:prstGeom>
          <a:solidFill>
            <a:srgbClr val="FFCDD2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7132320" y="14630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APR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Major damage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$15,000</a:t>
            </a:r>
            <a:endParaRPr lang="en-US" sz="14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C3297EA-7CC1-9216-D2D9-CE92C22FA1B1}"/>
              </a:ext>
            </a:extLst>
          </p:cNvPr>
          <p:cNvGrpSpPr/>
          <p:nvPr/>
        </p:nvGrpSpPr>
        <p:grpSpPr>
          <a:xfrm>
            <a:off x="2788920" y="2571750"/>
            <a:ext cx="4023360" cy="2286000"/>
            <a:chOff x="731520" y="2670533"/>
            <a:chExt cx="4023360" cy="2286000"/>
          </a:xfrm>
        </p:grpSpPr>
        <p:sp>
          <p:nvSpPr>
            <p:cNvPr id="15" name="Shape 13"/>
            <p:cNvSpPr/>
            <p:nvPr/>
          </p:nvSpPr>
          <p:spPr>
            <a:xfrm>
              <a:off x="731520" y="2670533"/>
              <a:ext cx="4023360" cy="2286000"/>
            </a:xfrm>
            <a:prstGeom prst="rect">
              <a:avLst/>
            </a:prstGeom>
            <a:solidFill>
              <a:srgbClr val="C8E6C9"/>
            </a:solidFill>
            <a:ln w="38100">
              <a:solidFill>
                <a:srgbClr val="388E3C"/>
              </a:solidFill>
              <a:prstDash val="dash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Text 14"/>
            <p:cNvSpPr/>
            <p:nvPr/>
          </p:nvSpPr>
          <p:spPr>
            <a:xfrm>
              <a:off x="822960" y="2815867"/>
              <a:ext cx="38404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388E3C"/>
                  </a:solidFill>
                </a:rPr>
                <a:t>EARLY DETECTION WINDOW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22960" y="3181627"/>
              <a:ext cx="3840480" cy="1463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</a:rPr>
                <a:t>2-3 month warning</a:t>
              </a:r>
              <a:r>
                <a:rPr lang="en-US" sz="1400" b="1" dirty="0"/>
                <a:t> </a:t>
              </a:r>
              <a:r>
                <a:rPr lang="en-US" sz="1400" b="1" dirty="0">
                  <a:solidFill>
                    <a:srgbClr val="212121"/>
                  </a:solidFill>
                </a:rPr>
                <a:t>prevention possible</a:t>
              </a:r>
              <a:r>
                <a:rPr lang="en-US" sz="1400" b="1" dirty="0"/>
                <a:t> </a:t>
              </a:r>
            </a:p>
            <a:p>
              <a:pPr marL="0" indent="0" algn="ctr">
                <a:buNone/>
              </a:pPr>
              <a:r>
                <a:rPr lang="en-US" sz="1400" b="1" dirty="0"/>
                <a:t>w</a:t>
              </a:r>
              <a:r>
                <a:rPr lang="en-US" sz="1400" b="1" dirty="0">
                  <a:solidFill>
                    <a:srgbClr val="212121"/>
                  </a:solidFill>
                </a:rPr>
                <a:t>ith minimal cost fix</a:t>
              </a:r>
              <a:endParaRPr lang="en-US" sz="1400" b="1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Our Solution: Detection Robot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8E3C"/>
                </a:solidFill>
              </a:rPr>
              <a:t>Autonomous robot + Smart analysis = Early warning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60320" cy="548640"/>
          </a:xfrm>
          <a:prstGeom prst="rect">
            <a:avLst/>
          </a:prstGeom>
          <a:solidFill>
            <a:srgbClr val="C8E6C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PATROL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882782"/>
            <a:ext cx="2560320" cy="506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</a:rPr>
              <a:t>Autonomous crawl space monitoring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560320" cy="548640"/>
          </a:xfrm>
          <a:prstGeom prst="rect">
            <a:avLst/>
          </a:prstGeom>
          <a:solidFill>
            <a:srgbClr val="C8E6C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347472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ANALYZE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83280" y="288278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</a:rPr>
              <a:t>Trend-based anomaly detection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560320" cy="548640"/>
          </a:xfrm>
          <a:prstGeom prst="rect">
            <a:avLst/>
          </a:prstGeom>
          <a:solidFill>
            <a:srgbClr val="C8E6C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630936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ALERT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🚨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217920" y="2879754"/>
            <a:ext cx="2560320" cy="506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</a:rPr>
              <a:t>Early warning to property manager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43142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8E3C"/>
                </a:solidFill>
              </a:rPr>
              <a:t>Result: 2-3 month early warning BEFORE expensive damage</a:t>
            </a:r>
            <a:endParaRPr lang="en-US" sz="16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B76C6E9-645D-A511-8C68-5068BB774CC8}"/>
              </a:ext>
            </a:extLst>
          </p:cNvPr>
          <p:cNvGrpSpPr/>
          <p:nvPr/>
        </p:nvGrpSpPr>
        <p:grpSpPr>
          <a:xfrm>
            <a:off x="1678015" y="4018212"/>
            <a:ext cx="7100225" cy="640080"/>
            <a:chOff x="457200" y="3886805"/>
            <a:chExt cx="7680960" cy="640080"/>
          </a:xfrm>
        </p:grpSpPr>
        <p:sp>
          <p:nvSpPr>
            <p:cNvPr id="18" name="Text 16"/>
            <p:cNvSpPr/>
            <p:nvPr/>
          </p:nvSpPr>
          <p:spPr>
            <a:xfrm>
              <a:off x="457200" y="3886805"/>
              <a:ext cx="7680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212121"/>
                  </a:solidFill>
                </a:rPr>
                <a:t>✓ Prevent mold &amp; structural damage</a:t>
              </a:r>
              <a:endParaRPr lang="en-US" sz="14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57200" y="4206845"/>
              <a:ext cx="7680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212121"/>
                  </a:solidFill>
                </a:rPr>
                <a:t>✓ Avoid insurance complications</a:t>
              </a:r>
              <a:endParaRPr lang="en-US" sz="14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3898614" y="3888622"/>
              <a:ext cx="3767965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212121"/>
                  </a:solidFill>
                </a:rPr>
                <a:t>✓ Fix problems for $500 instead of $15,000</a:t>
              </a:r>
              <a:endParaRPr lang="en-US" sz="14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3884686" y="4205028"/>
              <a:ext cx="3767966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212121"/>
                  </a:solidFill>
                </a:rPr>
                <a:t>✓ Property manager has peace of mind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System Architecture - Block Diagram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734"/>
            <a:ext cx="2286000" cy="913946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411480" y="1233982"/>
            <a:ext cx="2286000" cy="6405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212121"/>
                </a:solidFill>
              </a:rPr>
              <a:t>SENSORS</a:t>
            </a:r>
            <a:r>
              <a:rPr lang="en-US" sz="1050" b="1" dirty="0">
                <a:solidFill>
                  <a:srgbClr val="212121"/>
                </a:solidFill>
              </a:rPr>
              <a:t>:</a:t>
            </a:r>
            <a:r>
              <a:rPr lang="en-US" sz="1050" dirty="0"/>
              <a:t>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212121"/>
                </a:solidFill>
              </a:rPr>
              <a:t>Humidity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50" dirty="0"/>
              <a:t> </a:t>
            </a:r>
            <a:r>
              <a:rPr lang="en-US" sz="1050" b="1" dirty="0">
                <a:solidFill>
                  <a:srgbClr val="212121"/>
                </a:solidFill>
              </a:rPr>
              <a:t>temperature</a:t>
            </a:r>
            <a:r>
              <a:rPr lang="en-US" sz="1050" dirty="0"/>
              <a:t>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212121"/>
                </a:solidFill>
              </a:rPr>
              <a:t>thermal</a:t>
            </a:r>
            <a:r>
              <a:rPr lang="en-US" sz="1050" dirty="0"/>
              <a:t>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212121"/>
                </a:solidFill>
              </a:rPr>
              <a:t>GPS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097279"/>
            <a:ext cx="2286000" cy="913941"/>
          </a:xfrm>
          <a:prstGeom prst="rect">
            <a:avLst/>
          </a:prstGeom>
          <a:solidFill>
            <a:srgbClr val="C8E6C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3291840" y="1237539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121"/>
                </a:solidFill>
              </a:rPr>
              <a:t>PROCESSING:</a:t>
            </a:r>
            <a:endParaRPr lang="en-US" sz="1200" dirty="0"/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212121"/>
                </a:solidFill>
              </a:rPr>
              <a:t>Data Collection</a:t>
            </a:r>
            <a:endParaRPr lang="en-US" sz="1050" dirty="0"/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212121"/>
                </a:solidFill>
              </a:rPr>
              <a:t>Baseline Learning</a:t>
            </a:r>
            <a:endParaRPr lang="en-US" sz="1050" dirty="0"/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212121"/>
                </a:solidFill>
              </a:rPr>
              <a:t>Trend Analysis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0" y="1097280"/>
            <a:ext cx="2286000" cy="914400"/>
          </a:xfrm>
          <a:prstGeom prst="rect">
            <a:avLst/>
          </a:prstGeom>
          <a:solidFill>
            <a:srgbClr val="FFE0B2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035040" y="1223011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121"/>
                </a:solidFill>
              </a:rPr>
              <a:t>OUTPUT:</a:t>
            </a:r>
            <a:endParaRPr lang="en-US" sz="1200" dirty="0"/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212121"/>
                </a:solidFill>
              </a:rPr>
              <a:t>Alerts</a:t>
            </a:r>
            <a:endParaRPr lang="en-US" sz="1050" dirty="0"/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212121"/>
                </a:solidFill>
              </a:rPr>
              <a:t>Reports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212121"/>
                </a:solidFill>
              </a:rPr>
              <a:t>Dashboard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0" y="1572041"/>
            <a:ext cx="457200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5486400" y="1572041"/>
            <a:ext cx="457200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</a:rPr>
              <a:t>Continuous cycle: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4688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1. Robot collects sensor data every 10 seconds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903219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2. Data stored locally (SD card) &amp; uploaded (via </a:t>
            </a:r>
            <a:r>
              <a:rPr lang="en-US" sz="1300" dirty="0" err="1">
                <a:solidFill>
                  <a:srgbClr val="212121"/>
                </a:solidFill>
              </a:rPr>
              <a:t>WiFi</a:t>
            </a:r>
            <a:r>
              <a:rPr lang="en-US" sz="1300" dirty="0">
                <a:solidFill>
                  <a:srgbClr val="212121"/>
                </a:solidFill>
              </a:rPr>
              <a:t>) to remote data base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314699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3. System compares current to baseline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726179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4. Detects anomalies, Trends &amp; generates alerts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137659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5. Property manager receives report and takes action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Hardware Components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1164650"/>
            <a:ext cx="4114800" cy="2408096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76D2"/>
                </a:solidFill>
              </a:rPr>
              <a:t>ROBOT CHASSIS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🤖 Robot Body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🔋 4-6 hour battery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⚙️ Motor control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📡WIFI Capable Controller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158065"/>
            <a:ext cx="3931920" cy="2408096"/>
          </a:xfrm>
          <a:prstGeom prst="rect">
            <a:avLst/>
          </a:prstGeom>
          <a:solidFill>
            <a:srgbClr val="C8E6C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84632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76D2"/>
                </a:solidFill>
              </a:rPr>
              <a:t>SENSORS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💧 Humidity (±2%)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🌡️ Temperature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651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🔴 Thermal Camera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3108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📍 GPS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3566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21471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8E3C"/>
                </a:solidFill>
              </a:rPr>
              <a:t>Total Cost: ~$300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How Detection Works - 3 Phases</a:t>
            </a:r>
            <a:endParaRPr lang="en-US" sz="40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B879D6A-9A97-6516-4A50-74D77B24A87F}"/>
              </a:ext>
            </a:extLst>
          </p:cNvPr>
          <p:cNvGrpSpPr/>
          <p:nvPr/>
        </p:nvGrpSpPr>
        <p:grpSpPr>
          <a:xfrm>
            <a:off x="457200" y="1246259"/>
            <a:ext cx="8229600" cy="971470"/>
            <a:chOff x="457200" y="1141182"/>
            <a:chExt cx="8229600" cy="97147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01A3B52-ADD4-152F-CEC5-17EE65FFCBD8}"/>
                </a:ext>
              </a:extLst>
            </p:cNvPr>
            <p:cNvGrpSpPr/>
            <p:nvPr/>
          </p:nvGrpSpPr>
          <p:grpSpPr>
            <a:xfrm>
              <a:off x="457200" y="1141182"/>
              <a:ext cx="8229600" cy="971470"/>
              <a:chOff x="640080" y="1387800"/>
              <a:chExt cx="8229600" cy="971470"/>
            </a:xfrm>
          </p:grpSpPr>
          <p:sp>
            <p:nvSpPr>
              <p:cNvPr id="4" name="Shape 2"/>
              <p:cNvSpPr/>
              <p:nvPr/>
            </p:nvSpPr>
            <p:spPr>
              <a:xfrm>
                <a:off x="640080" y="1387800"/>
                <a:ext cx="2560320" cy="548184"/>
              </a:xfrm>
              <a:prstGeom prst="rect">
                <a:avLst/>
              </a:prstGeom>
              <a:solidFill>
                <a:srgbClr val="E3F2FD"/>
              </a:solidFill>
              <a:ln w="25400">
                <a:solidFill>
                  <a:srgbClr val="1976D2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6" name="Text 4"/>
              <p:cNvSpPr/>
              <p:nvPr/>
            </p:nvSpPr>
            <p:spPr>
              <a:xfrm>
                <a:off x="640080" y="1837425"/>
                <a:ext cx="256032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dirty="0">
                    <a:solidFill>
                      <a:srgbClr val="212121"/>
                    </a:solidFill>
                  </a:rPr>
                  <a:t>First patrol = Normal</a:t>
                </a:r>
                <a:endParaRPr lang="en-US" sz="1300" dirty="0"/>
              </a:p>
            </p:txBody>
          </p:sp>
          <p:sp>
            <p:nvSpPr>
              <p:cNvPr id="7" name="Shape 5"/>
              <p:cNvSpPr/>
              <p:nvPr/>
            </p:nvSpPr>
            <p:spPr>
              <a:xfrm>
                <a:off x="3200400" y="1662725"/>
                <a:ext cx="274320" cy="0"/>
              </a:xfrm>
              <a:prstGeom prst="line">
                <a:avLst/>
              </a:prstGeom>
              <a:noFill/>
              <a:ln w="25400">
                <a:solidFill>
                  <a:srgbClr val="1976D2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8" name="Shape 6"/>
              <p:cNvSpPr/>
              <p:nvPr/>
            </p:nvSpPr>
            <p:spPr>
              <a:xfrm>
                <a:off x="3474720" y="1387800"/>
                <a:ext cx="2560320" cy="548184"/>
              </a:xfrm>
              <a:prstGeom prst="rect">
                <a:avLst/>
              </a:prstGeom>
              <a:solidFill>
                <a:srgbClr val="FFF9C4"/>
              </a:solidFill>
              <a:ln w="25400">
                <a:solidFill>
                  <a:srgbClr val="1976D2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3474720" y="1875727"/>
                <a:ext cx="256032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dirty="0">
                    <a:solidFill>
                      <a:srgbClr val="212121"/>
                    </a:solidFill>
                  </a:rPr>
                  <a:t>Compare each patrol</a:t>
                </a:r>
                <a:endParaRPr lang="en-US" sz="1300" dirty="0"/>
              </a:p>
            </p:txBody>
          </p:sp>
          <p:sp>
            <p:nvSpPr>
              <p:cNvPr id="11" name="Shape 9"/>
              <p:cNvSpPr/>
              <p:nvPr/>
            </p:nvSpPr>
            <p:spPr>
              <a:xfrm>
                <a:off x="6035040" y="1662725"/>
                <a:ext cx="274320" cy="0"/>
              </a:xfrm>
              <a:prstGeom prst="line">
                <a:avLst/>
              </a:prstGeom>
              <a:noFill/>
              <a:ln w="25400">
                <a:solidFill>
                  <a:srgbClr val="1976D2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2" name="Shape 10"/>
              <p:cNvSpPr/>
              <p:nvPr/>
            </p:nvSpPr>
            <p:spPr>
              <a:xfrm>
                <a:off x="6309360" y="1387800"/>
                <a:ext cx="2560320" cy="548184"/>
              </a:xfrm>
              <a:prstGeom prst="rect">
                <a:avLst/>
              </a:prstGeom>
              <a:solidFill>
                <a:srgbClr val="FFCDD2"/>
              </a:solidFill>
              <a:ln w="25400">
                <a:solidFill>
                  <a:srgbClr val="1976D2"/>
                </a:solidFill>
                <a:prstDash val="solid"/>
              </a:ln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6309360" y="1902070"/>
                <a:ext cx="256032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dirty="0">
                    <a:solidFill>
                      <a:srgbClr val="212121"/>
                    </a:solidFill>
                  </a:rPr>
                  <a:t>Anomaly detected</a:t>
                </a:r>
                <a:endParaRPr lang="en-US" sz="1300" dirty="0"/>
              </a:p>
            </p:txBody>
          </p:sp>
        </p:grpSp>
        <p:sp>
          <p:nvSpPr>
            <p:cNvPr id="5" name="Text 3"/>
            <p:cNvSpPr/>
            <p:nvPr/>
          </p:nvSpPr>
          <p:spPr>
            <a:xfrm>
              <a:off x="548640" y="1180577"/>
              <a:ext cx="23774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</a:rPr>
                <a:t>1: BASELINE</a:t>
              </a:r>
              <a:endParaRPr lang="en-US" sz="14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383280" y="1190823"/>
              <a:ext cx="23774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</a:rPr>
                <a:t>2: MONITOR</a:t>
              </a:r>
              <a:endParaRPr lang="en-US" sz="14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126480" y="1181896"/>
              <a:ext cx="23774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</a:rPr>
                <a:t>3: ALERT</a:t>
              </a:r>
              <a:endParaRPr lang="en-US" sz="1400" dirty="0"/>
            </a:p>
          </p:txBody>
        </p:sp>
      </p:grpSp>
      <p:sp>
        <p:nvSpPr>
          <p:cNvPr id="15" name="Text 13"/>
          <p:cNvSpPr/>
          <p:nvPr/>
        </p:nvSpPr>
        <p:spPr>
          <a:xfrm>
            <a:off x="442061" y="243633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76D2"/>
                </a:solidFill>
              </a:rPr>
              <a:t>EXAMPLE DETECTION FLOW: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777417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Month 1: Establish baseline → Humidity = 65% (normal)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2061" y="3214027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Month 2: Humidity = 78% → Alert: +13% increase detected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67001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Month 3: Humidity = 82% → Alert escalates: +17% increase, action needed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411829"/>
            <a:ext cx="8229600" cy="549851"/>
          </a:xfrm>
          <a:prstGeom prst="rect">
            <a:avLst/>
          </a:prstGeom>
          <a:solidFill>
            <a:srgbClr val="C8E6C9"/>
          </a:solidFill>
          <a:ln w="254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640080" y="4367924"/>
            <a:ext cx="7863840" cy="651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76D2"/>
                </a:solidFill>
              </a:rPr>
              <a:t>KEY INSIGHT: We detect TRENDS, not just readings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976D2"/>
                </a:solidFill>
              </a:rPr>
              <a:t>Slow increases = 2-3 month warning before damage</a:t>
            </a:r>
            <a:endParaRPr lang="en-US" sz="140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CC71EA84-C84B-E074-BED2-9289B1005956}"/>
              </a:ext>
            </a:extLst>
          </p:cNvPr>
          <p:cNvSpPr/>
          <p:nvPr/>
        </p:nvSpPr>
        <p:spPr>
          <a:xfrm>
            <a:off x="7014236" y="2464493"/>
            <a:ext cx="1687703" cy="1195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</a:rPr>
              <a:t>We will also use IR sensor to detect anomalous cold spots for closer inspection and location logging  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2560320" y="889875"/>
            <a:ext cx="5669280" cy="411480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2560320" y="1484235"/>
            <a:ext cx="5669280" cy="411480"/>
          </a:xfrm>
          <a:prstGeom prst="rect">
            <a:avLst/>
          </a:prstGeom>
          <a:solidFill>
            <a:srgbClr val="FFF9C4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2560320" y="2071555"/>
            <a:ext cx="5669280" cy="411480"/>
          </a:xfrm>
          <a:prstGeom prst="rect">
            <a:avLst/>
          </a:prstGeom>
          <a:solidFill>
            <a:srgbClr val="FFE0B2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2560320" y="2665915"/>
            <a:ext cx="5669280" cy="411480"/>
          </a:xfrm>
          <a:prstGeom prst="rect">
            <a:avLst/>
          </a:prstGeom>
          <a:solidFill>
            <a:srgbClr val="FFCDD2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Monthly Patrol Cycle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889875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8E3C"/>
                </a:solidFill>
              </a:rPr>
              <a:t>5 min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920240" y="889875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976D2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651760" y="97590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Deploy robot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84235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8E3C"/>
                </a:solidFill>
              </a:rPr>
              <a:t>30-40 min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1484235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976D2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51760" y="15773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Autonomous patrol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078595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8E3C"/>
                </a:solidFill>
              </a:rPr>
              <a:t>5 min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20240" y="2078595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976D2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60320" y="21646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Retrieve &amp; review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672955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8E3C"/>
                </a:solidFill>
              </a:rPr>
              <a:t>Instant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920240" y="2672955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976D2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651760" y="2729045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Alerts if detected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293883"/>
            <a:ext cx="8229600" cy="1745990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640080" y="337643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76D2"/>
                </a:solidFill>
              </a:rPr>
              <a:t>Property Manager Action: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75539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212121"/>
                </a:solidFill>
              </a:rPr>
              <a:t>If normal: 'Schedule next month'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416687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212121"/>
                </a:solidFill>
              </a:rPr>
              <a:t>If watch zone: 'Monitor closely next visit'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457835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212121"/>
                </a:solidFill>
              </a:rPr>
              <a:t>If alert: 'Call contractor immediately'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2770450" y="1342147"/>
            <a:ext cx="610710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Data Flow Diagram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65570" y="1093413"/>
            <a:ext cx="1828800" cy="548640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1078810" y="1147763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ROBOT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Collects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1160" y="1087358"/>
            <a:ext cx="1828800" cy="548640"/>
          </a:xfrm>
          <a:prstGeom prst="rect">
            <a:avLst/>
          </a:prstGeom>
          <a:solidFill>
            <a:srgbClr val="FFE0B2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3424761" y="1150185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LOCAL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SD Storage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209960" y="1361678"/>
            <a:ext cx="564990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5774950" y="1077592"/>
            <a:ext cx="1828800" cy="548640"/>
          </a:xfrm>
          <a:prstGeom prst="rect">
            <a:avLst/>
          </a:prstGeom>
          <a:solidFill>
            <a:srgbClr val="C8E6C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5866390" y="1159267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CLOUD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Upload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46274" y="1642052"/>
            <a:ext cx="0" cy="331323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5774950" y="1973376"/>
            <a:ext cx="1828800" cy="548640"/>
          </a:xfrm>
          <a:prstGeom prst="rect">
            <a:avLst/>
          </a:prstGeom>
          <a:solidFill>
            <a:srgbClr val="C8E6C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923314" y="206481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ANALYSIS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Engine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 flipH="1" flipV="1">
            <a:off x="4611058" y="2256172"/>
            <a:ext cx="1177516" cy="9689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2770450" y="1981853"/>
            <a:ext cx="1828800" cy="548640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2861890" y="2073293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COMPARE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to Baseline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84850" y="2530493"/>
            <a:ext cx="0" cy="45720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2770449" y="2999199"/>
            <a:ext cx="1828800" cy="548640"/>
          </a:xfrm>
          <a:prstGeom prst="rect">
            <a:avLst/>
          </a:prstGeom>
          <a:solidFill>
            <a:srgbClr val="FFE0B2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2861889" y="3090639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DECISION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Logic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81822" y="3547839"/>
            <a:ext cx="0" cy="36576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  <a:tailEnd type="triangle"/>
          </a:ln>
        </p:spPr>
        <p:txBody>
          <a:bodyPr/>
          <a:lstStyle/>
          <a:p>
            <a:endParaRPr lang="en-AU" dirty="0"/>
          </a:p>
        </p:txBody>
      </p:sp>
      <p:sp>
        <p:nvSpPr>
          <p:cNvPr id="22" name="Shape 20"/>
          <p:cNvSpPr/>
          <p:nvPr/>
        </p:nvSpPr>
        <p:spPr>
          <a:xfrm>
            <a:off x="2770450" y="3913599"/>
            <a:ext cx="1828800" cy="93150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2816170" y="384941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76D2"/>
                </a:solidFill>
              </a:rPr>
              <a:t>🚨</a:t>
            </a:r>
            <a:r>
              <a:rPr lang="en-US" sz="1200" b="1" dirty="0"/>
              <a:t> ALERT</a:t>
            </a:r>
            <a:endParaRPr lang="en-US" sz="1200" dirty="0"/>
          </a:p>
          <a:p>
            <a:pPr marL="171450" indent="-171450" algn="ctr">
              <a:buFont typeface="Wingdings" panose="05000000000000000000" pitchFamily="2" charset="2"/>
              <a:buChar char="ü"/>
            </a:pPr>
            <a:r>
              <a:rPr lang="en-US" sz="1200" b="1" dirty="0"/>
              <a:t> Timestamp</a:t>
            </a:r>
            <a:endParaRPr lang="en-US" sz="1200" dirty="0"/>
          </a:p>
          <a:p>
            <a:pPr marL="171450" indent="-171450" algn="ctr">
              <a:buFont typeface="Wingdings" panose="05000000000000000000" pitchFamily="2" charset="2"/>
              <a:buChar char="ü"/>
            </a:pPr>
            <a:r>
              <a:rPr lang="en-US" sz="1200" b="1" dirty="0"/>
              <a:t> Location</a:t>
            </a:r>
            <a:endParaRPr lang="en-US" sz="1200" dirty="0"/>
          </a:p>
          <a:p>
            <a:pPr marL="171450" indent="-171450" algn="ctr">
              <a:buFont typeface="Wingdings" panose="05000000000000000000" pitchFamily="2" charset="2"/>
              <a:buChar char="ü"/>
            </a:pPr>
            <a:r>
              <a:rPr lang="en-US" sz="1200" b="1" dirty="0"/>
              <a:t> Severity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2876" y="4403191"/>
            <a:ext cx="1175699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5774950" y="4102078"/>
            <a:ext cx="2468880" cy="548640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5866390" y="417489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Property manager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Receives Report</a:t>
            </a:r>
            <a:endParaRPr lang="en-US" sz="1400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B4A9E6FA-B111-323A-7B67-63FFCEBF04FE}"/>
              </a:ext>
            </a:extLst>
          </p:cNvPr>
          <p:cNvCxnSpPr>
            <a:cxnSpLocks/>
            <a:stCxn id="10" idx="3"/>
            <a:endCxn id="4" idx="1"/>
          </p:cNvCxnSpPr>
          <p:nvPr/>
        </p:nvCxnSpPr>
        <p:spPr>
          <a:xfrm flipH="1">
            <a:off x="965570" y="1351912"/>
            <a:ext cx="6638180" cy="15821"/>
          </a:xfrm>
          <a:prstGeom prst="bentConnector5">
            <a:avLst>
              <a:gd name="adj1" fmla="val -3444"/>
              <a:gd name="adj2" fmla="val -2615675"/>
              <a:gd name="adj3" fmla="val 103444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Testing &amp; Validation Results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19163"/>
            <a:ext cx="8229600" cy="822960"/>
          </a:xfrm>
          <a:prstGeom prst="rect">
            <a:avLst/>
          </a:prstGeom>
          <a:solidFill>
            <a:srgbClr val="C8E6C9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76D2"/>
                </a:solidFill>
              </a:rPr>
              <a:t>ROBUSTNESS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17520" y="1234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388E3C"/>
                </a:solidFill>
              </a:rPr>
              <a:t>PASS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69578" y="1019163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WiFi dropout → SD backup (zero data loss)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4778" y="1979283"/>
            <a:ext cx="8229600" cy="822960"/>
          </a:xfrm>
          <a:prstGeom prst="rect">
            <a:avLst/>
          </a:prstGeom>
          <a:solidFill>
            <a:srgbClr val="FFE0B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76D2"/>
                </a:solidFill>
              </a:rPr>
              <a:t>RESPONSIVENESS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2194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388E3C"/>
                </a:solidFill>
              </a:rPr>
              <a:t>PASS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042263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Alert latency &lt; 5 seconds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39403"/>
            <a:ext cx="822960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76D2"/>
                </a:solidFill>
              </a:rPr>
              <a:t>REAL-TIME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31546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388E3C"/>
                </a:solidFill>
              </a:rPr>
              <a:t>PASS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69578" y="2998446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100% data collection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99523"/>
            <a:ext cx="8229600" cy="822960"/>
          </a:xfrm>
          <a:prstGeom prst="rect">
            <a:avLst/>
          </a:prstGeom>
          <a:solidFill>
            <a:srgbClr val="C8E6C9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76D2"/>
                </a:solidFill>
              </a:rPr>
              <a:t>MULTITHREADING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4114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388E3C"/>
                </a:solidFill>
              </a:rPr>
              <a:t>PASS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69578" y="394130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All tasks concurrent (no blocking)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Business Impact &amp; ROI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939531"/>
            <a:ext cx="3931920" cy="3129549"/>
          </a:xfrm>
          <a:prstGeom prst="rect">
            <a:avLst/>
          </a:prstGeom>
          <a:solidFill>
            <a:srgbClr val="FFCDD2"/>
          </a:solidFill>
          <a:ln w="254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548640" y="1122411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WITHOUT DETECTION: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579611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rgbClr val="FF0000"/>
                </a:solidFill>
              </a:rPr>
              <a:t> Leak undetected</a:t>
            </a:r>
          </a:p>
        </p:txBody>
      </p:sp>
      <p:sp>
        <p:nvSpPr>
          <p:cNvPr id="7" name="Text 5"/>
          <p:cNvSpPr/>
          <p:nvPr/>
        </p:nvSpPr>
        <p:spPr>
          <a:xfrm>
            <a:off x="731520" y="2082531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rgbClr val="FF0000"/>
                </a:solidFill>
              </a:rPr>
              <a:t> Damage spreads</a:t>
            </a:r>
          </a:p>
        </p:txBody>
      </p:sp>
      <p:sp>
        <p:nvSpPr>
          <p:cNvPr id="8" name="Text 6"/>
          <p:cNvSpPr/>
          <p:nvPr/>
        </p:nvSpPr>
        <p:spPr>
          <a:xfrm>
            <a:off x="731520" y="2585451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rgbClr val="FF0000"/>
                </a:solidFill>
              </a:rPr>
              <a:t>Repair cost: $15,000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3088371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rgbClr val="FF0000"/>
                </a:solidFill>
              </a:rPr>
              <a:t>Insurance hassles</a:t>
            </a:r>
          </a:p>
        </p:txBody>
      </p:sp>
      <p:sp>
        <p:nvSpPr>
          <p:cNvPr id="10" name="Text 8"/>
          <p:cNvSpPr/>
          <p:nvPr/>
        </p:nvSpPr>
        <p:spPr>
          <a:xfrm>
            <a:off x="731520" y="3591291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rgbClr val="FF0000"/>
                </a:solidFill>
              </a:rPr>
              <a:t> Tenant issues</a:t>
            </a:r>
          </a:p>
        </p:txBody>
      </p:sp>
      <p:sp>
        <p:nvSpPr>
          <p:cNvPr id="11" name="Shape 9"/>
          <p:cNvSpPr/>
          <p:nvPr/>
        </p:nvSpPr>
        <p:spPr>
          <a:xfrm>
            <a:off x="4754880" y="939531"/>
            <a:ext cx="3931920" cy="3129549"/>
          </a:xfrm>
          <a:prstGeom prst="rect">
            <a:avLst/>
          </a:prstGeom>
          <a:solidFill>
            <a:srgbClr val="C8E6C9"/>
          </a:solidFill>
          <a:ln w="254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846320" y="1122411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8E3C"/>
                </a:solidFill>
              </a:rPr>
              <a:t>WITH OUR ROBOT: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579611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388E3C"/>
                </a:solidFill>
              </a:rPr>
              <a:t>Early detection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082531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388E3C"/>
                </a:solidFill>
              </a:rPr>
              <a:t> Problem prevented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585451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388E3C"/>
                </a:solidFill>
              </a:rPr>
              <a:t> Repair cost: $500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088371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388E3C"/>
                </a:solidFill>
              </a:rPr>
              <a:t>No insurance claim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591291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388E3C"/>
                </a:solidFill>
              </a:rPr>
              <a:t>Happy tenants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56789" y="4256199"/>
            <a:ext cx="7315200" cy="684018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1323155" y="4393359"/>
            <a:ext cx="6949440" cy="120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76D2"/>
                </a:solidFill>
              </a:rPr>
              <a:t>50-UNIT COMPLEX ROI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48835" y="4519769"/>
            <a:ext cx="6949440" cy="3621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8E3C"/>
                </a:solidFill>
              </a:rPr>
              <a:t>Robot: $200  |  Prevents: $15,000 claim  |  Payback: &lt; 1 month  |  Annual Savings: $30,000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Embedded Systems Excellence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640080"/>
          </a:xfrm>
          <a:prstGeom prst="rect">
            <a:avLst/>
          </a:prstGeom>
          <a:solidFill>
            <a:srgbClr val="C8E6C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🤖 AUTONOMOUS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34389"/>
            <a:ext cx="3657600" cy="3430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Makes decisions without human input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640080"/>
          </a:xfrm>
          <a:prstGeom prst="rect">
            <a:avLst/>
          </a:prstGeom>
          <a:solidFill>
            <a:srgbClr val="C8E6C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846320" y="1463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📡 REAL-TIME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Continuous 4+ hour monitoring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Works even if components fail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640080"/>
          </a:xfrm>
          <a:prstGeom prst="rect">
            <a:avLst/>
          </a:prstGeom>
          <a:solidFill>
            <a:srgbClr val="C8E6C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🛡️ ROBUST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500153"/>
            <a:ext cx="3931920" cy="640080"/>
          </a:xfrm>
          <a:prstGeom prst="rect">
            <a:avLst/>
          </a:prstGeom>
          <a:solidFill>
            <a:srgbClr val="C8E6C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48640" y="3591593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⚡ RESPONSIVE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1" y="4231673"/>
            <a:ext cx="3657600" cy="272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Alerts generated in &lt; 5 seconds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500153"/>
            <a:ext cx="3931920" cy="640080"/>
          </a:xfrm>
          <a:prstGeom prst="rect">
            <a:avLst/>
          </a:prstGeom>
          <a:solidFill>
            <a:srgbClr val="C8E6C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4846320" y="3591593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📈 SCALABLE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39" y="4136297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Works for 1 or 1000+ properties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12121"/>
                </a:solidFill>
              </a:rPr>
              <a:t>Prevents real damage, saves money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500153"/>
            <a:ext cx="3931920" cy="640080"/>
          </a:xfrm>
          <a:prstGeom prst="rect">
            <a:avLst/>
          </a:prstGeom>
          <a:solidFill>
            <a:srgbClr val="C8E6C9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4846320" y="3591593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💰 VALUABLE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Summary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20949" y="1278326"/>
            <a:ext cx="8182970" cy="672648"/>
          </a:xfrm>
          <a:prstGeom prst="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466525" y="1273712"/>
            <a:ext cx="1636594" cy="593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76D2"/>
                </a:solidFill>
              </a:rPr>
              <a:t>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22266" y="1273712"/>
            <a:ext cx="6364533" cy="593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</a:rPr>
              <a:t>Water damage: #1 insurance claim, preventable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949" y="1876246"/>
            <a:ext cx="8182970" cy="672648"/>
          </a:xfrm>
          <a:prstGeom prst="rect">
            <a:avLst/>
          </a:prstGeom>
          <a:solidFill>
            <a:srgbClr val="C8E6C9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66525" y="1871632"/>
            <a:ext cx="1636594" cy="593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76D2"/>
                </a:solidFill>
              </a:rPr>
              <a:t>Solution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22266" y="1871632"/>
            <a:ext cx="6364533" cy="593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</a:rPr>
              <a:t>Autonomous robot monitors crawl spaces monthly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949" y="2469552"/>
            <a:ext cx="8182970" cy="672648"/>
          </a:xfrm>
          <a:prstGeom prst="rect">
            <a:avLst/>
          </a:prstGeom>
          <a:solidFill>
            <a:srgbClr val="FFE0B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66525" y="2464938"/>
            <a:ext cx="1636594" cy="593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76D2"/>
                </a:solidFill>
              </a:rPr>
              <a:t>Innovation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22266" y="2464938"/>
            <a:ext cx="6364533" cy="593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</a:rPr>
              <a:t>Trend analysis enables 2-3 month early warning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949" y="3106514"/>
            <a:ext cx="8182970" cy="672648"/>
          </a:xfrm>
          <a:prstGeom prst="rect">
            <a:avLst/>
          </a:prstGeom>
          <a:solidFill>
            <a:srgbClr val="FFCD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466525" y="3101900"/>
            <a:ext cx="1636594" cy="593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76D2"/>
                </a:solidFill>
              </a:rPr>
              <a:t>Impact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22266" y="3101900"/>
            <a:ext cx="6364533" cy="593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</a:rPr>
              <a:t>Prevents $15,000+ damage, saves property &amp; money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949" y="3697755"/>
            <a:ext cx="8182970" cy="672648"/>
          </a:xfrm>
          <a:prstGeom prst="rect">
            <a:avLst/>
          </a:prstGeom>
          <a:solidFill>
            <a:srgbClr val="C8E6C9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466525" y="3693141"/>
            <a:ext cx="1636594" cy="593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76D2"/>
                </a:solidFill>
              </a:rPr>
              <a:t>Result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22266" y="3693141"/>
            <a:ext cx="6364533" cy="593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</a:rPr>
              <a:t>Proactive, scalable, profitable system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15289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THANK YOU FOR WATCHING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101693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Water Damage Detection and prevention Robot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677</Words>
  <Application>Microsoft Office PowerPoint</Application>
  <PresentationFormat>On-screen Show (16:9)</PresentationFormat>
  <Paragraphs>198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CHARLIE MASON</cp:lastModifiedBy>
  <cp:revision>3</cp:revision>
  <dcterms:created xsi:type="dcterms:W3CDTF">2026-04-12T07:36:11Z</dcterms:created>
  <dcterms:modified xsi:type="dcterms:W3CDTF">2026-04-12T08:22:03Z</dcterms:modified>
</cp:coreProperties>
</file>