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3" r:id="rId7"/>
    <p:sldId id="262" r:id="rId8"/>
    <p:sldId id="261" r:id="rId9"/>
    <p:sldId id="26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32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036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6C56-BDF7-3A26-B14B-66C8B976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89DF9-F328-839E-942D-1EB41EB90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CF03E-EFB4-4FE0-F0C5-49B1368B3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15BA5-1118-7CF4-9F19-28BCFDC53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Water Damage Detection Robot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Early Prevention Through Smart Monitoring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Problem: </a:t>
            </a:r>
            <a:r>
              <a:rPr lang="en-US" sz="2000" b="1" dirty="0">
                <a:solidFill>
                  <a:srgbClr val="FFFFFF"/>
                </a:solidFill>
              </a:rPr>
              <a:t>Water damage is detected too late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8E3C"/>
                </a:solidFill>
              </a:rPr>
              <a:t>$ BILLIONS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</a:rPr>
              <a:t>In Annual insurance claims for water damage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931920" cy="320486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Current Approach: Reactive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Fix AFTER damage occurs 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Repair costs:$15,000 - $30,000+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Insurance complications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Property damage 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Mold and health hazards </a:t>
            </a:r>
          </a:p>
          <a:p>
            <a:pPr marL="285750" indent="-285750">
              <a:buFont typeface="Calibri" panose="020F0502020204030204" pitchFamily="34" charset="0"/>
              <a:buChar char="X"/>
            </a:pPr>
            <a:endParaRPr lang="en-AU" dirty="0"/>
          </a:p>
        </p:txBody>
      </p:sp>
      <p:pic>
        <p:nvPicPr>
          <p:cNvPr id="1026" name="Picture 2" descr="Water in a Crawl Space Can Wreak Havoc On a Home—Here's What to Do About It  - Bob Vila">
            <a:extLst>
              <a:ext uri="{FF2B5EF4-FFF2-40B4-BE49-F238E27FC236}">
                <a16:creationId xmlns:a16="http://schemas.microsoft.com/office/drawing/2014/main" id="{03F90B40-38C0-1C64-5B35-5E17DFA7C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91" y="2286000"/>
            <a:ext cx="3024217" cy="20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Water Damage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JAN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Small leak starts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1" y="1828800"/>
            <a:ext cx="274319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914400"/>
          </a:xfrm>
          <a:prstGeom prst="rect">
            <a:avLst/>
          </a:prstGeom>
          <a:solidFill>
            <a:srgbClr val="FFF9C4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FEB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Mold growing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27432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91440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Visible damage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27432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828800" cy="914400"/>
          </a:xfrm>
          <a:prstGeom prst="rect">
            <a:avLst/>
          </a:prstGeom>
          <a:solidFill>
            <a:srgbClr val="FFCDD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13232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APR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Major damage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$15,000</a:t>
            </a:r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297EA-7CC1-9216-D2D9-CE92C22FA1B1}"/>
              </a:ext>
            </a:extLst>
          </p:cNvPr>
          <p:cNvGrpSpPr/>
          <p:nvPr/>
        </p:nvGrpSpPr>
        <p:grpSpPr>
          <a:xfrm>
            <a:off x="2788920" y="2571750"/>
            <a:ext cx="4023360" cy="2286000"/>
            <a:chOff x="731520" y="2670533"/>
            <a:chExt cx="4023360" cy="2286000"/>
          </a:xfrm>
        </p:grpSpPr>
        <p:sp>
          <p:nvSpPr>
            <p:cNvPr id="15" name="Shape 13"/>
            <p:cNvSpPr/>
            <p:nvPr/>
          </p:nvSpPr>
          <p:spPr>
            <a:xfrm>
              <a:off x="731520" y="2670533"/>
              <a:ext cx="4023360" cy="2286000"/>
            </a:xfrm>
            <a:prstGeom prst="rect">
              <a:avLst/>
            </a:prstGeom>
            <a:solidFill>
              <a:srgbClr val="C8E6C9"/>
            </a:solidFill>
            <a:ln w="38100">
              <a:solidFill>
                <a:srgbClr val="388E3C"/>
              </a:solidFill>
              <a:prstDash val="dash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2815867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88E3C"/>
                  </a:solidFill>
                </a:rPr>
                <a:t>EARLY DETECTION WINDOW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2960" y="3181627"/>
              <a:ext cx="384048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2-3 month warning</a:t>
              </a:r>
              <a:r>
                <a:rPr lang="en-US" sz="1400" b="1" dirty="0"/>
                <a:t> </a:t>
              </a:r>
              <a:r>
                <a:rPr lang="en-US" sz="1400" b="1" dirty="0">
                  <a:solidFill>
                    <a:srgbClr val="212121"/>
                  </a:solidFill>
                </a:rPr>
                <a:t>prevention possible</a:t>
              </a:r>
              <a:r>
                <a:rPr lang="en-US" sz="1400" b="1" dirty="0"/>
                <a:t> </a:t>
              </a:r>
            </a:p>
            <a:p>
              <a:pPr marL="0" indent="0" algn="ctr">
                <a:buNone/>
              </a:pPr>
              <a:r>
                <a:rPr lang="en-US" sz="1400" b="1" dirty="0"/>
                <a:t>w</a:t>
              </a:r>
              <a:r>
                <a:rPr lang="en-US" sz="1400" b="1" dirty="0">
                  <a:solidFill>
                    <a:srgbClr val="212121"/>
                  </a:solidFill>
                </a:rPr>
                <a:t>ith minimal cost fix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A81D6-5E09-2A43-135B-A9A2FA2A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3208F-AFD8-7E1D-0C70-CEC2C0BFA8DA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45062D-262F-6CA9-E165-430CFC912416}"/>
              </a:ext>
            </a:extLst>
          </p:cNvPr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Gap: </a:t>
            </a:r>
            <a:r>
              <a:rPr lang="en-US" sz="2400" b="1" dirty="0">
                <a:solidFill>
                  <a:srgbClr val="FFFFFF"/>
                </a:solidFill>
              </a:rPr>
              <a:t>Why the current approach fails 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1D5474-08FC-8691-B804-D6476B09B913}"/>
              </a:ext>
            </a:extLst>
          </p:cNvPr>
          <p:cNvGrpSpPr/>
          <p:nvPr/>
        </p:nvGrpSpPr>
        <p:grpSpPr>
          <a:xfrm>
            <a:off x="3090672" y="2286241"/>
            <a:ext cx="2962656" cy="530352"/>
            <a:chOff x="731520" y="1371600"/>
            <a:chExt cx="1828800" cy="91440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0D4C67B-3D71-B745-259D-C5EA536133AE}"/>
                </a:ext>
              </a:extLst>
            </p:cNvPr>
            <p:cNvSpPr/>
            <p:nvPr/>
          </p:nvSpPr>
          <p:spPr>
            <a:xfrm>
              <a:off x="731520" y="1371600"/>
              <a:ext cx="1828800" cy="914400"/>
            </a:xfrm>
            <a:prstGeom prst="rect">
              <a:avLst/>
            </a:prstGeom>
            <a:solidFill>
              <a:srgbClr val="E8F5E9"/>
            </a:solidFill>
            <a:ln w="25400">
              <a:solidFill>
                <a:srgbClr val="1976D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CDCC7964-BC37-A96F-B245-412477E36E23}"/>
                </a:ext>
              </a:extLst>
            </p:cNvPr>
            <p:cNvSpPr/>
            <p:nvPr/>
          </p:nvSpPr>
          <p:spPr>
            <a:xfrm>
              <a:off x="822960" y="1463040"/>
              <a:ext cx="1645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/>
                <a:t>Manual Inspection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666581-1417-A63A-5487-FEDA6169154D}"/>
              </a:ext>
            </a:extLst>
          </p:cNvPr>
          <p:cNvGrpSpPr/>
          <p:nvPr/>
        </p:nvGrpSpPr>
        <p:grpSpPr>
          <a:xfrm>
            <a:off x="512064" y="1187500"/>
            <a:ext cx="2962656" cy="530352"/>
            <a:chOff x="2834640" y="1463040"/>
            <a:chExt cx="1828800" cy="91440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C922CB4-7E4E-22A4-D989-400B44F15513}"/>
                </a:ext>
              </a:extLst>
            </p:cNvPr>
            <p:cNvSpPr/>
            <p:nvPr/>
          </p:nvSpPr>
          <p:spPr>
            <a:xfrm>
              <a:off x="2834640" y="1463040"/>
              <a:ext cx="1828800" cy="914400"/>
            </a:xfrm>
            <a:prstGeom prst="rect">
              <a:avLst/>
            </a:prstGeom>
            <a:solidFill>
              <a:srgbClr val="FFF9C4"/>
            </a:solidFill>
            <a:ln w="25400">
              <a:solidFill>
                <a:srgbClr val="1976D2"/>
              </a:solidFill>
              <a:prstDash val="solid"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6A6F157-590C-C558-CE92-D7BF8709D3B7}"/>
                </a:ext>
              </a:extLst>
            </p:cNvPr>
            <p:cNvSpPr/>
            <p:nvPr/>
          </p:nvSpPr>
          <p:spPr>
            <a:xfrm>
              <a:off x="2926080" y="1463040"/>
              <a:ext cx="1645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/>
                <a:t>Cameras: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E438B3-3B7B-BE0F-1C46-AD402FDA6B62}"/>
              </a:ext>
            </a:extLst>
          </p:cNvPr>
          <p:cNvGrpSpPr/>
          <p:nvPr/>
        </p:nvGrpSpPr>
        <p:grpSpPr>
          <a:xfrm>
            <a:off x="5669282" y="1187500"/>
            <a:ext cx="2962656" cy="530352"/>
            <a:chOff x="4937760" y="1371600"/>
            <a:chExt cx="18288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02C9B426-C80D-440E-7C1E-D061B50A7F99}"/>
                </a:ext>
              </a:extLst>
            </p:cNvPr>
            <p:cNvSpPr/>
            <p:nvPr/>
          </p:nvSpPr>
          <p:spPr>
            <a:xfrm>
              <a:off x="4937760" y="1371600"/>
              <a:ext cx="1828800" cy="914400"/>
            </a:xfrm>
            <a:prstGeom prst="rect">
              <a:avLst/>
            </a:prstGeom>
            <a:solidFill>
              <a:srgbClr val="FFE0B2"/>
            </a:solidFill>
            <a:ln w="25400">
              <a:solidFill>
                <a:srgbClr val="1976D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EEA2679-78BB-8B85-6621-1FCB93531CD8}"/>
                </a:ext>
              </a:extLst>
            </p:cNvPr>
            <p:cNvSpPr/>
            <p:nvPr/>
          </p:nvSpPr>
          <p:spPr>
            <a:xfrm>
              <a:off x="5029200" y="1463040"/>
              <a:ext cx="1645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/>
                <a:t>Insurance Claims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23746B-7F58-3B60-0E9E-6C8206865A29}"/>
              </a:ext>
            </a:extLst>
          </p:cNvPr>
          <p:cNvGrpSpPr/>
          <p:nvPr/>
        </p:nvGrpSpPr>
        <p:grpSpPr>
          <a:xfrm>
            <a:off x="716280" y="3362795"/>
            <a:ext cx="7711440" cy="1412202"/>
            <a:chOff x="7040880" y="522781"/>
            <a:chExt cx="1828800" cy="2434831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5E8E82D0-4D21-AC99-6F94-7EA467985BA2}"/>
                </a:ext>
              </a:extLst>
            </p:cNvPr>
            <p:cNvSpPr/>
            <p:nvPr/>
          </p:nvSpPr>
          <p:spPr>
            <a:xfrm>
              <a:off x="7040880" y="522781"/>
              <a:ext cx="1828800" cy="2434831"/>
            </a:xfrm>
            <a:prstGeom prst="rect">
              <a:avLst/>
            </a:prstGeom>
            <a:solidFill>
              <a:srgbClr val="FFCDD2"/>
            </a:solidFill>
            <a:ln w="25400">
              <a:solidFill>
                <a:srgbClr val="1976D2"/>
              </a:solidFill>
              <a:prstDash val="solid"/>
            </a:ln>
          </p:spPr>
          <p:txBody>
            <a:bodyPr/>
            <a:lstStyle/>
            <a:p>
              <a:pPr algn="ctr"/>
              <a:endParaRPr lang="en-AU" sz="2800" b="1" dirty="0"/>
            </a:p>
            <a:p>
              <a:pPr algn="ctr"/>
              <a:r>
                <a:rPr lang="en-AU" sz="2800" b="1" dirty="0"/>
                <a:t>Result: costly and reactive </a:t>
              </a: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3E9971DB-C73D-EAEC-7F94-FED2BD1855CE}"/>
                </a:ext>
              </a:extLst>
            </p:cNvPr>
            <p:cNvSpPr/>
            <p:nvPr/>
          </p:nvSpPr>
          <p:spPr>
            <a:xfrm>
              <a:off x="7132320" y="1463040"/>
              <a:ext cx="1645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14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FD6E520-D7BA-7501-ADC3-861D40DBBD0F}"/>
              </a:ext>
            </a:extLst>
          </p:cNvPr>
          <p:cNvSpPr txBox="1"/>
          <p:nvPr/>
        </p:nvSpPr>
        <p:spPr>
          <a:xfrm>
            <a:off x="512064" y="1863547"/>
            <a:ext cx="2962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Do not usually appear under the building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0416C9-719A-129E-BBE5-3240592F56EF}"/>
              </a:ext>
            </a:extLst>
          </p:cNvPr>
          <p:cNvSpPr txBox="1"/>
          <p:nvPr/>
        </p:nvSpPr>
        <p:spPr>
          <a:xfrm>
            <a:off x="3090672" y="2871216"/>
            <a:ext cx="2962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Infrequent, expensive, human dependent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D8A04B-C5C8-F12F-997A-FA8133FD346D}"/>
              </a:ext>
            </a:extLst>
          </p:cNvPr>
          <p:cNvSpPr txBox="1"/>
          <p:nvPr/>
        </p:nvSpPr>
        <p:spPr>
          <a:xfrm>
            <a:off x="5669282" y="1867205"/>
            <a:ext cx="2962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Is tedious and only pays after damage occurs </a:t>
            </a:r>
          </a:p>
        </p:txBody>
      </p:sp>
    </p:spTree>
    <p:extLst>
      <p:ext uri="{BB962C8B-B14F-4D97-AF65-F5344CB8AC3E}">
        <p14:creationId xmlns:p14="http://schemas.microsoft.com/office/powerpoint/2010/main" val="1881512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Our Solution: Detection Robot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8E3C"/>
                </a:solidFill>
              </a:rPr>
              <a:t>Autonomous robot + Smart analysis = Early warning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PATROL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82782"/>
            <a:ext cx="2560320" cy="506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Autonomous crawl space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ANALYZE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88278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Trend-based and anomaly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ALERT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879754"/>
            <a:ext cx="2560320" cy="506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Early warning for property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314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8E3C"/>
                </a:solidFill>
              </a:rPr>
              <a:t>Result: 2-3 month early warning BEFORE expensive damage</a:t>
            </a:r>
            <a:endParaRPr lang="en-US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76C6E9-645D-A511-8C68-5068BB774CC8}"/>
              </a:ext>
            </a:extLst>
          </p:cNvPr>
          <p:cNvGrpSpPr/>
          <p:nvPr/>
        </p:nvGrpSpPr>
        <p:grpSpPr>
          <a:xfrm>
            <a:off x="1242089" y="4074530"/>
            <a:ext cx="7100225" cy="640080"/>
            <a:chOff x="457200" y="3886805"/>
            <a:chExt cx="7680960" cy="640080"/>
          </a:xfrm>
        </p:grpSpPr>
        <p:sp>
          <p:nvSpPr>
            <p:cNvPr id="18" name="Text 16"/>
            <p:cNvSpPr/>
            <p:nvPr/>
          </p:nvSpPr>
          <p:spPr>
            <a:xfrm>
              <a:off x="457200" y="3886805"/>
              <a:ext cx="7680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rgbClr val="212121"/>
                  </a:solidFill>
                </a:rPr>
                <a:t> Prevent mold &amp; structural damage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4206845"/>
              <a:ext cx="7680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rgbClr val="212121"/>
                  </a:solidFill>
                </a:rPr>
                <a:t>Avoid insurance complications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898614" y="3888622"/>
              <a:ext cx="376796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rgbClr val="212121"/>
                  </a:solidFill>
                </a:rPr>
                <a:t>Fix problems for $500 instead of $15,000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884686" y="4205028"/>
              <a:ext cx="376796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rgbClr val="212121"/>
                  </a:solidFill>
                </a:rPr>
                <a:t>Property manager has peace of mind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560320" y="889875"/>
            <a:ext cx="5669280" cy="4114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560320" y="1484235"/>
            <a:ext cx="5669280" cy="411480"/>
          </a:xfrm>
          <a:prstGeom prst="rect">
            <a:avLst/>
          </a:prstGeom>
          <a:solidFill>
            <a:srgbClr val="FFF9C4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560320" y="2071555"/>
            <a:ext cx="5669280" cy="41148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560320" y="2665915"/>
            <a:ext cx="5669280" cy="411480"/>
          </a:xfrm>
          <a:prstGeom prst="rect">
            <a:avLst/>
          </a:prstGeom>
          <a:solidFill>
            <a:srgbClr val="FFCDD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Monthly Patrol Cycle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8987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97590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Deploy robot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423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30-40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5773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Autonomous/Manual patrol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07859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5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1646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Retrieve &amp;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3554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Instant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2729045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Alerts if detected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3883"/>
            <a:ext cx="8229600" cy="174599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40080" y="337643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Property Manager Action: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5539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normal: 'Schedule next month'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16687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watch zone: 'Monitor closely next visit'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7835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alert: 'Call contractor immediately'</a:t>
            </a:r>
            <a:endParaRPr lang="en-US" sz="13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7FD0DE4-F5A8-706E-08B6-90F8CA9CEE83}"/>
              </a:ext>
            </a:extLst>
          </p:cNvPr>
          <p:cNvSpPr/>
          <p:nvPr/>
        </p:nvSpPr>
        <p:spPr>
          <a:xfrm>
            <a:off x="1917508" y="2772832"/>
            <a:ext cx="377133" cy="141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7B853FE-73BC-4C60-C75B-CC24BC1E3B3E}"/>
              </a:ext>
            </a:extLst>
          </p:cNvPr>
          <p:cNvSpPr/>
          <p:nvPr/>
        </p:nvSpPr>
        <p:spPr>
          <a:xfrm>
            <a:off x="1917509" y="2203148"/>
            <a:ext cx="377133" cy="141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161943B-5CA7-D732-088E-DBD2A4541D52}"/>
              </a:ext>
            </a:extLst>
          </p:cNvPr>
          <p:cNvSpPr/>
          <p:nvPr/>
        </p:nvSpPr>
        <p:spPr>
          <a:xfrm>
            <a:off x="1919558" y="1619628"/>
            <a:ext cx="377133" cy="141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EF16E7C-276B-4CF7-AD67-8BF6A8FBD962}"/>
              </a:ext>
            </a:extLst>
          </p:cNvPr>
          <p:cNvSpPr/>
          <p:nvPr/>
        </p:nvSpPr>
        <p:spPr>
          <a:xfrm>
            <a:off x="1920239" y="1030025"/>
            <a:ext cx="377133" cy="141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How Detection Works - 3 Phases</a:t>
            </a:r>
            <a:endParaRPr lang="en-US" sz="4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879D6A-9A97-6516-4A50-74D77B24A87F}"/>
              </a:ext>
            </a:extLst>
          </p:cNvPr>
          <p:cNvGrpSpPr/>
          <p:nvPr/>
        </p:nvGrpSpPr>
        <p:grpSpPr>
          <a:xfrm>
            <a:off x="457200" y="1246259"/>
            <a:ext cx="8229600" cy="971470"/>
            <a:chOff x="457200" y="1141182"/>
            <a:chExt cx="8229600" cy="97147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01A3B52-ADD4-152F-CEC5-17EE65FFCBD8}"/>
                </a:ext>
              </a:extLst>
            </p:cNvPr>
            <p:cNvGrpSpPr/>
            <p:nvPr/>
          </p:nvGrpSpPr>
          <p:grpSpPr>
            <a:xfrm>
              <a:off x="457200" y="1141182"/>
              <a:ext cx="8229600" cy="971470"/>
              <a:chOff x="640080" y="1387800"/>
              <a:chExt cx="8229600" cy="97147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640080" y="1387800"/>
                <a:ext cx="2560320" cy="548184"/>
              </a:xfrm>
              <a:prstGeom prst="rect">
                <a:avLst/>
              </a:prstGeom>
              <a:solidFill>
                <a:srgbClr val="E3F2FD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640080" y="1837425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First patrol = Normal</a:t>
                </a:r>
                <a:endParaRPr lang="en-US" sz="1300" dirty="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3200400" y="1662725"/>
                <a:ext cx="274320" cy="0"/>
              </a:xfrm>
              <a:prstGeom prst="line">
                <a:avLst/>
              </a:prstGeom>
              <a:noFill/>
              <a:ln w="25400">
                <a:solidFill>
                  <a:srgbClr val="1976D2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3474720" y="1387800"/>
                <a:ext cx="2560320" cy="548184"/>
              </a:xfrm>
              <a:prstGeom prst="rect">
                <a:avLst/>
              </a:prstGeom>
              <a:solidFill>
                <a:srgbClr val="FFF9C4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474720" y="1875727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Compare each patrol</a:t>
                </a:r>
                <a:endParaRPr lang="en-US" sz="130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6035040" y="1662725"/>
                <a:ext cx="274320" cy="0"/>
              </a:xfrm>
              <a:prstGeom prst="line">
                <a:avLst/>
              </a:prstGeom>
              <a:noFill/>
              <a:ln w="25400">
                <a:solidFill>
                  <a:srgbClr val="1976D2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6309360" y="1387800"/>
                <a:ext cx="2560320" cy="548184"/>
              </a:xfrm>
              <a:prstGeom prst="rect">
                <a:avLst/>
              </a:prstGeom>
              <a:solidFill>
                <a:srgbClr val="FFCDD2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6309360" y="1902070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Anomaly detected</a:t>
                </a:r>
                <a:endParaRPr lang="en-US" sz="1300" dirty="0"/>
              </a:p>
            </p:txBody>
          </p:sp>
        </p:grpSp>
        <p:sp>
          <p:nvSpPr>
            <p:cNvPr id="5" name="Text 3"/>
            <p:cNvSpPr/>
            <p:nvPr/>
          </p:nvSpPr>
          <p:spPr>
            <a:xfrm>
              <a:off x="548640" y="1180577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1: BASELINE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383280" y="1190823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2: MONITOR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126480" y="1181896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3: ALERT</a:t>
              </a:r>
              <a:endParaRPr lang="en-US" sz="14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42060" y="2436333"/>
            <a:ext cx="29412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EXAMPLE TREND DETECTION FLOW: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77417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1: Establish baseline → Humidity = 65% (normal)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2061" y="3214027"/>
            <a:ext cx="41299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2: Humidity = 78% → Alert: +13% increase 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70018"/>
            <a:ext cx="4183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3: Humidity = 82% → Alert escalates: +17% increase, action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11829"/>
            <a:ext cx="8229600" cy="549851"/>
          </a:xfrm>
          <a:prstGeom prst="rect">
            <a:avLst/>
          </a:prstGeom>
          <a:solidFill>
            <a:srgbClr val="C8E6C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40080" y="4367924"/>
            <a:ext cx="7863840" cy="651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</a:rPr>
              <a:t>KEY INSIGHT: We detect TRENDS, not just readings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</a:rPr>
              <a:t>Slow increases = 2-3 month warning before damage</a:t>
            </a:r>
            <a:endParaRPr lang="en-US" sz="14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8DD58A5-2B77-F019-16CD-C289C8FBBFCF}"/>
              </a:ext>
            </a:extLst>
          </p:cNvPr>
          <p:cNvSpPr/>
          <p:nvPr/>
        </p:nvSpPr>
        <p:spPr>
          <a:xfrm>
            <a:off x="4792639" y="2430277"/>
            <a:ext cx="30957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EXAMPLE ANOMOLY DETECTION FLOW:</a:t>
            </a:r>
            <a:endParaRPr lang="en-US" sz="1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8D302F5-A2EC-51F1-1816-2C9D00F8475C}"/>
              </a:ext>
            </a:extLst>
          </p:cNvPr>
          <p:cNvSpPr/>
          <p:nvPr/>
        </p:nvSpPr>
        <p:spPr>
          <a:xfrm>
            <a:off x="4807779" y="2771361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Step 1: cold spot detected</a:t>
            </a:r>
            <a:endParaRPr lang="en-US" sz="13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1FB9722-53ED-7DB9-934B-3C9521175DBA}"/>
              </a:ext>
            </a:extLst>
          </p:cNvPr>
          <p:cNvSpPr/>
          <p:nvPr/>
        </p:nvSpPr>
        <p:spPr>
          <a:xfrm>
            <a:off x="4792640" y="3207971"/>
            <a:ext cx="41299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Step 2: probe soil for moisture </a:t>
            </a:r>
            <a:endParaRPr lang="en-US" sz="13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131AC748-F754-4E1C-1361-C1B74CE51BE3}"/>
              </a:ext>
            </a:extLst>
          </p:cNvPr>
          <p:cNvSpPr/>
          <p:nvPr/>
        </p:nvSpPr>
        <p:spPr>
          <a:xfrm>
            <a:off x="4807779" y="3663962"/>
            <a:ext cx="4183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step 3: excess moisture found → alert: action needed 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Hardware Components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164650"/>
            <a:ext cx="4114800" cy="240809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</a:rPr>
              <a:t>ROBOT CHASSIS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🤖 Robot Body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🔋 4-6 hour battery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⚙️ Motor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📡WIFI Capable 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58065"/>
            <a:ext cx="3931920" cy="2408096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</a:rPr>
              <a:t>SENSORS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💧 Humidity (±2%)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🌡️ Temperature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🔴 Thermal Camera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📍 GPS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1471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Total Cost: ~$300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System Sensor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734"/>
            <a:ext cx="2286000" cy="91394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233982"/>
            <a:ext cx="2286000" cy="640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212121"/>
                </a:solidFill>
              </a:rPr>
              <a:t>SENSORS</a:t>
            </a:r>
            <a:r>
              <a:rPr lang="en-US" sz="1050" b="1" dirty="0">
                <a:solidFill>
                  <a:srgbClr val="212121"/>
                </a:solidFill>
              </a:rPr>
              <a:t>: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Humidity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dirty="0"/>
              <a:t> </a:t>
            </a:r>
            <a:r>
              <a:rPr lang="en-US" sz="1050" b="1" dirty="0">
                <a:solidFill>
                  <a:srgbClr val="212121"/>
                </a:solidFill>
              </a:rPr>
              <a:t>temperature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thermal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GPS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79"/>
            <a:ext cx="2286000" cy="913941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291840" y="1237539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PROCESSING:</a:t>
            </a:r>
            <a:endParaRPr lang="en-US" sz="12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Data Collection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Baseline Learning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Trend Analysis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286000" cy="91440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035040" y="1223011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OUTPUT:</a:t>
            </a:r>
            <a:endParaRPr lang="en-US" sz="12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Alerts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Reports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572041"/>
            <a:ext cx="45720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486400" y="1572041"/>
            <a:ext cx="45720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Continuous cycle: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1. Robot collects sensor data every 10 seconds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90321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2. Data stored locally (SD card) &amp; uploaded (via </a:t>
            </a:r>
            <a:r>
              <a:rPr lang="en-US" sz="1300" dirty="0" err="1">
                <a:solidFill>
                  <a:srgbClr val="212121"/>
                </a:solidFill>
              </a:rPr>
              <a:t>WiFi</a:t>
            </a:r>
            <a:r>
              <a:rPr lang="en-US" sz="1300" dirty="0">
                <a:solidFill>
                  <a:srgbClr val="212121"/>
                </a:solidFill>
              </a:rPr>
              <a:t>) to remote data 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1469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3. System compares current to baseline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2617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4. Detects anomalies, Trends &amp; generates alerts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3765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5. Property manager receives report and takes action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770450" y="1342147"/>
            <a:ext cx="61071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Flow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65570" y="1093413"/>
            <a:ext cx="18288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078810" y="1147763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ROBOT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Collects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1160" y="1087358"/>
            <a:ext cx="1828800" cy="54864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424761" y="1150185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LOCAL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SD 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9960" y="1361678"/>
            <a:ext cx="56499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774950" y="1077592"/>
            <a:ext cx="182880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866390" y="1159267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CLOUD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Upload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46274" y="1642052"/>
            <a:ext cx="0" cy="33132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774950" y="1973376"/>
            <a:ext cx="182880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23314" y="20648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Engine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4611058" y="2256172"/>
            <a:ext cx="1177516" cy="968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2770450" y="1981853"/>
            <a:ext cx="18288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2861890" y="2073293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COMPARE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to Baseline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84850" y="2530493"/>
            <a:ext cx="0" cy="45720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2770449" y="2999199"/>
            <a:ext cx="1828800" cy="54864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2861889" y="3090639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Logic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81822" y="3547839"/>
            <a:ext cx="0" cy="36576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 dirty="0"/>
          </a:p>
        </p:txBody>
      </p:sp>
      <p:sp>
        <p:nvSpPr>
          <p:cNvPr id="22" name="Shape 20"/>
          <p:cNvSpPr/>
          <p:nvPr/>
        </p:nvSpPr>
        <p:spPr>
          <a:xfrm>
            <a:off x="2770450" y="3913599"/>
            <a:ext cx="1828800" cy="9315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2816170" y="384941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76D2"/>
                </a:solidFill>
              </a:rPr>
              <a:t>🚨</a:t>
            </a:r>
            <a:r>
              <a:rPr lang="en-US" sz="1200" b="1" dirty="0"/>
              <a:t> ALERT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Timestamp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Location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Severity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2876" y="4403191"/>
            <a:ext cx="1175699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5774950" y="4102078"/>
            <a:ext cx="246888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66390" y="417489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Property 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Receives Report</a:t>
            </a:r>
            <a:endParaRPr lang="en-US" sz="14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4A9E6FA-B111-323A-7B67-63FFCEBF04FE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 flipH="1">
            <a:off x="965570" y="1351912"/>
            <a:ext cx="6638180" cy="15821"/>
          </a:xfrm>
          <a:prstGeom prst="bentConnector5">
            <a:avLst>
              <a:gd name="adj1" fmla="val -3444"/>
              <a:gd name="adj2" fmla="val -2615675"/>
              <a:gd name="adj3" fmla="val 10344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Testing &amp; Validation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19163"/>
            <a:ext cx="8229600" cy="822960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ROBUSTNESS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69578" y="1019163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WiFi dropout → SD backup (zero data loss)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4778" y="1979283"/>
            <a:ext cx="8229600" cy="822960"/>
          </a:xfrm>
          <a:prstGeom prst="rect">
            <a:avLst/>
          </a:prstGeom>
          <a:solidFill>
            <a:srgbClr val="FFE0B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RESPONSIVENESS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42263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Alert latency &lt; 5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39403"/>
            <a:ext cx="82296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9578" y="299844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100% data collection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99523"/>
            <a:ext cx="8229600" cy="822960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MULTITHREADING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9578" y="39413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All tasks concurrent (no blocking)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Business Impact &amp; ROI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939531"/>
            <a:ext cx="3931920" cy="3129549"/>
          </a:xfrm>
          <a:prstGeom prst="rect">
            <a:avLst/>
          </a:prstGeom>
          <a:solidFill>
            <a:srgbClr val="FFCDD2"/>
          </a:solidFill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12241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WITHOUT DETECTION: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57961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Leak undetected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208253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Damage spreads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258545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Repair cost: $15,000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308837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Insurance hassles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359129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Tenant issues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939531"/>
            <a:ext cx="3931920" cy="3129549"/>
          </a:xfrm>
          <a:prstGeom prst="rect">
            <a:avLst/>
          </a:prstGeom>
          <a:solidFill>
            <a:srgbClr val="C8E6C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46320" y="112241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E3C"/>
                </a:solidFill>
              </a:rPr>
              <a:t>WITH OUR ROBOT: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7961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Early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8253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 Problem prevented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8545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 Repair cost: $500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08837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No insurance claim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59129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Happy tenants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6789" y="4256199"/>
            <a:ext cx="7315200" cy="684018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323155" y="4393359"/>
            <a:ext cx="6949440" cy="120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50-UNIT COMPLEX ROI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8835" y="4519769"/>
            <a:ext cx="6949440" cy="362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8E3C"/>
                </a:solidFill>
              </a:rPr>
              <a:t>Robot: $200  |  Prevents: $15,000 claim  |  Payback: &lt; 1 month  |  Annual Savings: $30,000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Embedded Systems Excellence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🤖 AUTONOMOUS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34389"/>
            <a:ext cx="3657600" cy="343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Makes decisions without human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📡 REAL-TIME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Continuous 4+ hour monitoring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Works even if components fail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🛡️ ROBUST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4864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⚡ RESPONSIVE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1" y="4231673"/>
            <a:ext cx="3657600" cy="272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Alerts generated in &lt; 5 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84632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📈 SCALABLE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39" y="4136297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Works for 1 or 1000+ properties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Prevents real damage, saves money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84632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💰 VALUABLE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949" y="1278326"/>
            <a:ext cx="8182970" cy="672648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66525" y="1273712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22266" y="1273712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Water damage: A top insurance claim, preventable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949" y="1876246"/>
            <a:ext cx="8182970" cy="672648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66525" y="1871632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22266" y="1871632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Can autonomously monitors crawl spaces monthly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949" y="2469552"/>
            <a:ext cx="8182970" cy="672648"/>
          </a:xfrm>
          <a:prstGeom prst="rect">
            <a:avLst/>
          </a:prstGeom>
          <a:solidFill>
            <a:srgbClr val="FFE0B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525" y="2464938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22266" y="2464938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Trend analysis enables early warning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949" y="3106514"/>
            <a:ext cx="8182970" cy="672648"/>
          </a:xfrm>
          <a:prstGeom prst="rect">
            <a:avLst/>
          </a:prstGeom>
          <a:solidFill>
            <a:srgbClr val="FFCD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66525" y="3101900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22266" y="3101900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Prevents $15,000+ damage, saves property &amp; money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949" y="3697755"/>
            <a:ext cx="8182970" cy="672648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66525" y="3693141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22266" y="3693141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Proactive, scalable, profitable system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1528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 FOR WATCHING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10169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Water Damage Detection and prevention Robot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730</Words>
  <Application>Microsoft Office PowerPoint</Application>
  <PresentationFormat>On-screen Show (16:9)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CHARLIE MASON</cp:lastModifiedBy>
  <cp:revision>6</cp:revision>
  <dcterms:created xsi:type="dcterms:W3CDTF">2026-04-12T07:36:11Z</dcterms:created>
  <dcterms:modified xsi:type="dcterms:W3CDTF">2026-04-13T08:28:06Z</dcterms:modified>
</cp:coreProperties>
</file>